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71" r:id="rId1"/>
    <p:sldMasterId id="2147483657" r:id="rId2"/>
    <p:sldMasterId id="2147483833" r:id="rId3"/>
  </p:sldMasterIdLst>
  <p:notesMasterIdLst>
    <p:notesMasterId r:id="rId17"/>
  </p:notesMasterIdLst>
  <p:handoutMasterIdLst>
    <p:handoutMasterId r:id="rId18"/>
  </p:handoutMasterIdLst>
  <p:sldIdLst>
    <p:sldId id="1171" r:id="rId4"/>
    <p:sldId id="1097" r:id="rId5"/>
    <p:sldId id="1172" r:id="rId6"/>
    <p:sldId id="1102" r:id="rId7"/>
    <p:sldId id="1185" r:id="rId8"/>
    <p:sldId id="1199" r:id="rId9"/>
    <p:sldId id="1200" r:id="rId10"/>
    <p:sldId id="1201" r:id="rId11"/>
    <p:sldId id="1202" r:id="rId12"/>
    <p:sldId id="1203" r:id="rId13"/>
    <p:sldId id="1208" r:id="rId14"/>
    <p:sldId id="1209" r:id="rId15"/>
    <p:sldId id="1207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улаков Роман 4341В" id="{E6ECDA77-1B8E-0E4F-8DDA-529EB99512FD}">
          <p14:sldIdLst>
            <p14:sldId id="1171"/>
            <p14:sldId id="1097"/>
            <p14:sldId id="1172"/>
            <p14:sldId id="1102"/>
            <p14:sldId id="1185"/>
            <p14:sldId id="1199"/>
            <p14:sldId id="1200"/>
            <p14:sldId id="1201"/>
            <p14:sldId id="1202"/>
            <p14:sldId id="1203"/>
            <p14:sldId id="1208"/>
            <p14:sldId id="1209"/>
            <p14:sldId id="120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лексей Малышев" initials="АМ" lastIdx="8" clrIdx="0">
    <p:extLst>
      <p:ext uri="{19B8F6BF-5375-455C-9EA6-DF929625EA0E}">
        <p15:presenceInfo xmlns:p15="http://schemas.microsoft.com/office/powerpoint/2012/main" userId="8ae9c15f625b32bb" providerId="Windows Live"/>
      </p:ext>
    </p:extLst>
  </p:cmAuthor>
  <p:cmAuthor id="2" name="OCTS" initials="O" lastIdx="1" clrIdx="1">
    <p:extLst>
      <p:ext uri="{19B8F6BF-5375-455C-9EA6-DF929625EA0E}">
        <p15:presenceInfo xmlns:p15="http://schemas.microsoft.com/office/powerpoint/2012/main" userId="OCTS" providerId="None"/>
      </p:ext>
    </p:extLst>
  </p:cmAuthor>
  <p:cmAuthor id="3" name="Kostylev Andrey" initials="KA" lastIdx="1" clrIdx="2">
    <p:extLst>
      <p:ext uri="{19B8F6BF-5375-455C-9EA6-DF929625EA0E}">
        <p15:presenceInfo xmlns:p15="http://schemas.microsoft.com/office/powerpoint/2012/main" userId="146efb04217a1102" providerId="Windows Live"/>
      </p:ext>
    </p:extLst>
  </p:cmAuthor>
  <p:cmAuthor id="4" name="Elizaveta Kostyleva" initials="EK" lastIdx="1" clrIdx="3">
    <p:extLst>
      <p:ext uri="{19B8F6BF-5375-455C-9EA6-DF929625EA0E}">
        <p15:presenceInfo xmlns:p15="http://schemas.microsoft.com/office/powerpoint/2012/main" userId="S::ekostyleva@lifevantage.com::e5a115f0-bdb1-48b8-969c-0a472e870de3" providerId="AD"/>
      </p:ext>
    </p:extLst>
  </p:cmAuthor>
  <p:cmAuthor id="5" name="ОЦТС" initials="О" lastIdx="2" clrIdx="4">
    <p:extLst>
      <p:ext uri="{19B8F6BF-5375-455C-9EA6-DF929625EA0E}">
        <p15:presenceInfo xmlns:p15="http://schemas.microsoft.com/office/powerpoint/2012/main" userId="ОЦТС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AA"/>
    <a:srgbClr val="9D9D9D"/>
    <a:srgbClr val="FEFEFE"/>
    <a:srgbClr val="BFBFB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0520" autoAdjust="0"/>
  </p:normalViewPr>
  <p:slideViewPr>
    <p:cSldViewPr snapToGrid="0" snapToObjects="1">
      <p:cViewPr varScale="1">
        <p:scale>
          <a:sx n="72" d="100"/>
          <a:sy n="72" d="100"/>
        </p:scale>
        <p:origin x="804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66" d="100"/>
        <a:sy n="66" d="100"/>
      </p:scale>
      <p:origin x="0" y="-7146"/>
    </p:cViewPr>
  </p:sorterViewPr>
  <p:notesViewPr>
    <p:cSldViewPr snapToGrid="0" snapToObjects="1">
      <p:cViewPr varScale="1">
        <p:scale>
          <a:sx n="85" d="100"/>
          <a:sy n="85" d="100"/>
        </p:scale>
        <p:origin x="380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A78F288-5E3C-4F81-AD43-7789565D29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2D620-2592-455C-9AF4-8E2D0C2F79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FFCE6C-E7E6-4C35-A8B5-8F9784AA687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628E3-CFC5-471A-B6A2-9F949B2E81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86937-338C-4D39-8822-B1F000CF62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77762-F59A-4FB1-90F9-50BE76F03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588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46D5B-6567-794D-8CBA-5CCA973D6774}" type="datetimeFigureOut">
              <a:t>6/3/2026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DE2F8-02D4-C448-B364-7246A6689E7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934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400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9948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3752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ая стран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6EB76-0898-4F71-9685-0F9BE4E1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CD38B1-ACC6-416C-AF72-6F91347F95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568243"/>
            <a:ext cx="6330950" cy="841155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3pPr marL="914400" indent="0">
              <a:buNone/>
              <a:defRPr/>
            </a:lvl3pPr>
          </a:lstStyle>
          <a:p>
            <a:pPr lvl="0"/>
            <a:r>
              <a:rPr lang="ru-RU" dirty="0"/>
              <a:t>Имя Фамилия 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0C140D7-ACA5-419A-846F-D1888293EF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52598" y="5993952"/>
            <a:ext cx="3488540" cy="387798"/>
          </a:xfrm>
        </p:spPr>
        <p:txBody>
          <a:bodyPr/>
          <a:lstStyle>
            <a:lvl2pPr>
              <a:defRPr/>
            </a:lvl2pPr>
            <a:lvl3pPr marL="914400" indent="0">
              <a:buNone/>
              <a:defRPr/>
            </a:lvl3pPr>
          </a:lstStyle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2891415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один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748982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155870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 userDrawn="1">
          <p15:clr>
            <a:srgbClr val="9FCC3B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а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C75DE5C1-456E-4D90-87F0-D35E9FD23C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56364" y="1341437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96248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е колонки в одном блок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11090275" cy="5040312"/>
          </a:xfrm>
        </p:spPr>
        <p:txBody>
          <a:bodyPr numCol="2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09747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73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6875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2AFB8C0-5C8E-4D3D-ADF9-00059CE618CF}"/>
              </a:ext>
            </a:extLst>
          </p:cNvPr>
          <p:cNvSpPr txBox="1"/>
          <p:nvPr userDrawn="1"/>
        </p:nvSpPr>
        <p:spPr>
          <a:xfrm>
            <a:off x="9541404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771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1843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0205243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5385"/>
          <a:stretch/>
        </p:blipFill>
        <p:spPr>
          <a:xfrm>
            <a:off x="10776480" y="5500691"/>
            <a:ext cx="864658" cy="9138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676746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A6AFA2-D81A-4798-AEC0-3F4A7A8C22AC}"/>
              </a:ext>
            </a:extLst>
          </p:cNvPr>
          <p:cNvSpPr txBox="1"/>
          <p:nvPr userDrawn="1"/>
        </p:nvSpPr>
        <p:spPr>
          <a:xfrm>
            <a:off x="571238" y="6179006"/>
            <a:ext cx="320506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dirty="0">
                <a:solidFill>
                  <a:schemeClr val="bg1">
                    <a:lumMod val="50000"/>
                  </a:schemeClr>
                </a:solidFill>
              </a:rPr>
              <a:t>© </a:t>
            </a:r>
            <a:r>
              <a:rPr lang="ru-RU" sz="1100" b="0" dirty="0">
                <a:solidFill>
                  <a:schemeClr val="bg1">
                    <a:lumMod val="50000"/>
                  </a:schemeClr>
                </a:solidFill>
              </a:rPr>
              <a:t>ГУАП, 2023</a:t>
            </a:r>
            <a:endParaRPr lang="ru-RU" sz="1400" b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039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3 - для выступле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509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4 - с конта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AF823-6E65-4BE2-B22A-CEAA3977E7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6363" y="3275544"/>
            <a:ext cx="5184775" cy="1997341"/>
          </a:xfrm>
        </p:spPr>
        <p:txBody>
          <a:bodyPr anchor="ctr" anchorCtr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4001576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3309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9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A26B8BC-9AE2-41D8-8A90-8D1C0A2A55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009951-9659-4924-B8D1-D9994BE1E4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6155"/>
          <a:stretch/>
        </p:blipFill>
        <p:spPr>
          <a:xfrm>
            <a:off x="550865" y="304376"/>
            <a:ext cx="2827336" cy="109537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39E3CC-EBAD-4C68-8215-E3D1E3388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2509678"/>
            <a:ext cx="8051638" cy="132556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20187D-590C-4FB1-A787-08B69F583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4568243"/>
            <a:ext cx="6234948" cy="10047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1624853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r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32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40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44A2A7-9511-4B2D-A046-C71363808B05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412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1" r:id="rId2"/>
    <p:sldLayoutId id="2147483759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3613" userDrawn="1">
          <p15:clr>
            <a:srgbClr val="F26B43"/>
          </p15:clr>
        </p15:guide>
        <p15:guide id="6" pos="406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14C9C7-3F3B-4FAE-B19C-B28F0A67B7F7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24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6" r:id="rId2"/>
    <p:sldLayoutId id="2147483847" r:id="rId3"/>
    <p:sldLayoutId id="2147483849" r:id="rId4"/>
    <p:sldLayoutId id="2147483850" r:id="rId5"/>
    <p:sldLayoutId id="2147483843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4067" userDrawn="1">
          <p15:clr>
            <a:srgbClr val="F26B43"/>
          </p15:clr>
        </p15:guide>
        <p15:guide id="6" pos="361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A5BC97-99E1-4827-A5AA-5E9EBED1B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Классификатор мусора </a:t>
            </a:r>
            <a:br>
              <a:rPr lang="ru-RU" dirty="0"/>
            </a:br>
            <a:r>
              <a:rPr lang="ru-RU" dirty="0"/>
              <a:t>на основе нейронной сети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EA8D34-BBBA-48A9-9B83-130C3E8DC9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Проектная работа по дисциплине</a:t>
            </a:r>
            <a:br>
              <a:rPr lang="ru-RU" dirty="0"/>
            </a:br>
            <a:r>
              <a:rPr lang="ru-RU" dirty="0"/>
              <a:t>«Искусственный интеллект»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26AC53-244B-4289-B3B5-D31C1BFD52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ru-RU" dirty="0"/>
              <a:t>2026</a:t>
            </a:r>
          </a:p>
        </p:txBody>
      </p:sp>
      <p:sp>
        <p:nvSpPr>
          <p:cNvPr id="5" name="Текст 2">
            <a:extLst>
              <a:ext uri="{FF2B5EF4-FFF2-40B4-BE49-F238E27FC236}">
                <a16:creationId xmlns:a16="http://schemas.microsoft.com/office/drawing/2014/main" id="{4F4F99D7-134C-87C0-0D61-38EF1A0510A2}"/>
              </a:ext>
            </a:extLst>
          </p:cNvPr>
          <p:cNvSpPr txBox="1">
            <a:spLocks/>
          </p:cNvSpPr>
          <p:nvPr/>
        </p:nvSpPr>
        <p:spPr>
          <a:xfrm>
            <a:off x="8352716" y="6015963"/>
            <a:ext cx="6330950" cy="84115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Кулаков Роман 4341В</a:t>
            </a:r>
          </a:p>
        </p:txBody>
      </p:sp>
    </p:spTree>
    <p:extLst>
      <p:ext uri="{BB962C8B-B14F-4D97-AF65-F5344CB8AC3E}">
        <p14:creationId xmlns:p14="http://schemas.microsoft.com/office/powerpoint/2010/main" val="2705815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9452D1-89AA-4C5A-88F0-499C88E144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i="1" dirty="0">
                <a:solidFill>
                  <a:schemeClr val="accent1"/>
                </a:solidFill>
              </a:rPr>
              <a:t>Сортировка отходов</a:t>
            </a:r>
            <a:r>
              <a:rPr lang="ru-RU" dirty="0"/>
              <a:t> — одна из ключевых задач экологии. Ежегодно в мире образуется более 2 млрд тонн отходов, при этом только 30–35 % перерабатывается. Качество переработки напрямую зависит от точности сортировки, которая в большинстве случаев выполняется вручную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b="1" dirty="0">
                <a:solidFill>
                  <a:schemeClr val="accent1"/>
                </a:solidFill>
              </a:rPr>
              <a:t>Цель работы:</a:t>
            </a:r>
            <a:r>
              <a:rPr lang="ru-RU" dirty="0"/>
              <a:t> разработать систему автоматической классификации мусора по фотографии с использованием нейронной сети и реализовать визуализацию принятия решений моделью с помощью алгоритма </a:t>
            </a:r>
            <a:r>
              <a:rPr lang="ru-RU" dirty="0" err="1"/>
              <a:t>Grad</a:t>
            </a:r>
            <a:r>
              <a:rPr lang="ru-RU" dirty="0"/>
              <a:t>-CAM</a:t>
            </a:r>
          </a:p>
        </p:txBody>
      </p:sp>
      <p:pic>
        <p:nvPicPr>
          <p:cNvPr id="1026" name="Picture 2" descr="Сортировка мусора 2026: способы, проблемы, виды, цели, советы для детей и  взрослых">
            <a:extLst>
              <a:ext uri="{FF2B5EF4-FFF2-40B4-BE49-F238E27FC236}">
                <a16:creationId xmlns:a16="http://schemas.microsoft.com/office/drawing/2014/main" id="{CBF2562E-B91F-73AD-71D0-F757AE981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788" y="1341438"/>
            <a:ext cx="5329057" cy="2997595"/>
          </a:xfrm>
          <a:prstGeom prst="round2Diag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833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Используемые технологии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9452D1-89AA-4C5A-88F0-499C88E144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10000"/>
          </a:bodyPr>
          <a:lstStyle/>
          <a:p>
            <a:pPr lvl="3"/>
            <a:r>
              <a:rPr lang="ru-RU" b="1" dirty="0">
                <a:solidFill>
                  <a:schemeClr val="accent1"/>
                </a:solidFill>
              </a:rPr>
              <a:t>Среда и язык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i="1" dirty="0">
                <a:solidFill>
                  <a:schemeClr val="accent1"/>
                </a:solidFill>
              </a:rPr>
              <a:t>Google </a:t>
            </a:r>
            <a:r>
              <a:rPr lang="ru-RU" i="1" dirty="0" err="1">
                <a:solidFill>
                  <a:schemeClr val="accent1"/>
                </a:solidFill>
              </a:rPr>
              <a:t>Colab</a:t>
            </a:r>
            <a:r>
              <a:rPr lang="ru-RU" dirty="0"/>
              <a:t> — облачный </a:t>
            </a:r>
            <a:r>
              <a:rPr lang="ru-RU" dirty="0" err="1"/>
              <a:t>Jupyter</a:t>
            </a:r>
            <a:r>
              <a:rPr lang="ru-RU" dirty="0"/>
              <a:t> </a:t>
            </a:r>
            <a:r>
              <a:rPr lang="ru-RU" dirty="0" err="1"/>
              <a:t>Notebook</a:t>
            </a:r>
            <a:r>
              <a:rPr lang="ru-RU" dirty="0"/>
              <a:t> с бесплатным доступом к GPU (NVIDIA Tesla T4). Не требует установки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i="1" dirty="0">
                <a:solidFill>
                  <a:schemeClr val="accent1"/>
                </a:solidFill>
              </a:rPr>
              <a:t>Python 3</a:t>
            </a:r>
            <a:r>
              <a:rPr lang="ru-RU" dirty="0"/>
              <a:t> — стандарт для задач машинного обучения</a:t>
            </a:r>
          </a:p>
          <a:p>
            <a:pPr lvl="3"/>
            <a:r>
              <a:rPr lang="ru-RU" b="1" dirty="0">
                <a:solidFill>
                  <a:schemeClr val="accent1"/>
                </a:solidFill>
              </a:rPr>
              <a:t>ML-стек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i="1" dirty="0" err="1">
                <a:solidFill>
                  <a:schemeClr val="accent1"/>
                </a:solidFill>
              </a:rPr>
              <a:t>TensorFlow</a:t>
            </a:r>
            <a:r>
              <a:rPr lang="ru-RU" i="1" dirty="0">
                <a:solidFill>
                  <a:schemeClr val="accent1"/>
                </a:solidFill>
              </a:rPr>
              <a:t> / </a:t>
            </a:r>
            <a:r>
              <a:rPr lang="ru-RU" i="1" dirty="0" err="1">
                <a:solidFill>
                  <a:schemeClr val="accent1"/>
                </a:solidFill>
              </a:rPr>
              <a:t>Keras</a:t>
            </a:r>
            <a:r>
              <a:rPr lang="ru-RU" dirty="0"/>
              <a:t> — основная библиотека для построения и обучения нейросети</a:t>
            </a:r>
          </a:p>
          <a:p>
            <a:pPr lvl="3"/>
            <a:r>
              <a:rPr lang="ru-RU" b="1" dirty="0">
                <a:solidFill>
                  <a:schemeClr val="accent1"/>
                </a:solidFill>
              </a:rPr>
              <a:t>Обработка изображений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i="1" dirty="0" err="1">
                <a:solidFill>
                  <a:schemeClr val="accent1"/>
                </a:solidFill>
              </a:rPr>
              <a:t>NumPy</a:t>
            </a:r>
            <a:r>
              <a:rPr lang="ru-RU" dirty="0"/>
              <a:t> — работа с массивами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i="1" dirty="0" err="1">
                <a:solidFill>
                  <a:schemeClr val="accent1"/>
                </a:solidFill>
              </a:rPr>
              <a:t>OpenCV</a:t>
            </a:r>
            <a:r>
              <a:rPr lang="ru-RU" dirty="0"/>
              <a:t> — наложение карты </a:t>
            </a:r>
            <a:r>
              <a:rPr lang="ru-RU" dirty="0" err="1"/>
              <a:t>Grad</a:t>
            </a:r>
            <a:r>
              <a:rPr lang="ru-RU" dirty="0"/>
              <a:t>-CAM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i="1" dirty="0" err="1">
                <a:solidFill>
                  <a:schemeClr val="accent1"/>
                </a:solidFill>
              </a:rPr>
              <a:t>Matplotlib</a:t>
            </a:r>
            <a:r>
              <a:rPr lang="ru-RU" dirty="0"/>
              <a:t> — графики обучения</a:t>
            </a:r>
          </a:p>
          <a:p>
            <a:pPr lvl="3"/>
            <a:endParaRPr lang="ru-R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D889AFE-EBA2-6E56-BE3C-CE9A8A0C6C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40415" y="2177888"/>
            <a:ext cx="5094414" cy="2786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5219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Transfer Learning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9452D1-89AA-4C5A-88F0-499C88E144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7815" y="1341438"/>
            <a:ext cx="5184774" cy="5040312"/>
          </a:xfrm>
        </p:spPr>
        <p:txBody>
          <a:bodyPr numCol="1">
            <a:normAutofit/>
          </a:bodyPr>
          <a:lstStyle/>
          <a:p>
            <a:pPr lvl="3"/>
            <a:r>
              <a:rPr lang="ru-RU" b="1" dirty="0">
                <a:solidFill>
                  <a:schemeClr val="accent1"/>
                </a:solidFill>
              </a:rPr>
              <a:t>В чём суть</a:t>
            </a:r>
          </a:p>
          <a:p>
            <a:pPr lvl="5">
              <a:lnSpc>
                <a:spcPct val="130000"/>
              </a:lnSpc>
            </a:pPr>
            <a:r>
              <a:rPr lang="ru-RU" dirty="0"/>
              <a:t>Использование модели, </a:t>
            </a:r>
            <a:r>
              <a:rPr lang="ru-RU" dirty="0" err="1"/>
              <a:t>предобученной</a:t>
            </a:r>
            <a:r>
              <a:rPr lang="ru-RU" dirty="0"/>
              <a:t> на большом универсальном датасете (</a:t>
            </a:r>
            <a:r>
              <a:rPr lang="ru-RU" dirty="0" err="1"/>
              <a:t>ImageNet</a:t>
            </a:r>
            <a:r>
              <a:rPr lang="ru-RU" dirty="0"/>
              <a:t>, 14 млн изображений), в качестве основы для решения собственной задачи</a:t>
            </a:r>
          </a:p>
          <a:p>
            <a:pPr lvl="5">
              <a:lnSpc>
                <a:spcPct val="130000"/>
              </a:lnSpc>
            </a:pPr>
            <a:r>
              <a:rPr lang="ru-RU" dirty="0"/>
              <a:t>Нижние слои такой модели уже умеют выделять универсальные признаки — края, текстуры, формы. Эти знания применимы практически к любым изображениям</a:t>
            </a:r>
          </a:p>
          <a:p>
            <a:pPr lvl="5">
              <a:lnSpc>
                <a:spcPct val="130000"/>
              </a:lnSpc>
            </a:pPr>
            <a:r>
              <a:rPr lang="ru-RU" dirty="0" err="1"/>
              <a:t>Дообучаем</a:t>
            </a:r>
            <a:r>
              <a:rPr lang="ru-RU" dirty="0"/>
              <a:t> только верхний классификационный слой под свои 6 классов мусора</a:t>
            </a:r>
          </a:p>
          <a:p>
            <a:pPr lvl="5">
              <a:lnSpc>
                <a:spcPct val="130000"/>
              </a:lnSpc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70DE475-A7E1-E72F-BC90-E324C555B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15" y="2348344"/>
            <a:ext cx="5468671" cy="2734336"/>
          </a:xfrm>
          <a:prstGeom prst="round2DiagRect">
            <a:avLst/>
          </a:prstGeom>
        </p:spPr>
      </p:pic>
    </p:spTree>
    <p:extLst>
      <p:ext uri="{BB962C8B-B14F-4D97-AF65-F5344CB8AC3E}">
        <p14:creationId xmlns:p14="http://schemas.microsoft.com/office/powerpoint/2010/main" val="677253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950A427-2396-4452-A267-FC25A12F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модели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E90C7D51-AC66-40CC-A0F6-A9900F310E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1341438"/>
            <a:ext cx="5184774" cy="5040312"/>
          </a:xfrm>
        </p:spPr>
        <p:txBody>
          <a:bodyPr/>
          <a:lstStyle/>
          <a:p>
            <a:pPr lvl="3"/>
            <a:r>
              <a:rPr lang="ru-RU" b="1" dirty="0">
                <a:solidFill>
                  <a:schemeClr val="accent1"/>
                </a:solidFill>
              </a:rPr>
              <a:t>Базовая модель: MobileNetV2</a:t>
            </a:r>
          </a:p>
          <a:p>
            <a:pPr lvl="3"/>
            <a:r>
              <a:rPr lang="ru-RU" dirty="0"/>
              <a:t>Лёгкая </a:t>
            </a:r>
            <a:r>
              <a:rPr lang="ru-RU" dirty="0" err="1"/>
              <a:t>свёрточная</a:t>
            </a:r>
            <a:r>
              <a:rPr lang="ru-RU" dirty="0"/>
              <a:t> сеть от Google (2018). Особенности: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 err="1"/>
              <a:t>depthwise</a:t>
            </a:r>
            <a:r>
              <a:rPr lang="ru-RU" dirty="0"/>
              <a:t> </a:t>
            </a:r>
            <a:r>
              <a:rPr lang="ru-RU" dirty="0" err="1"/>
              <a:t>separable</a:t>
            </a:r>
            <a:r>
              <a:rPr lang="ru-RU" dirty="0"/>
              <a:t> </a:t>
            </a:r>
            <a:r>
              <a:rPr lang="ru-RU" dirty="0" err="1"/>
              <a:t>convolutions</a:t>
            </a:r>
            <a:r>
              <a:rPr lang="ru-RU" dirty="0"/>
              <a:t> — сокращают число операций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 err="1"/>
              <a:t>inverted</a:t>
            </a:r>
            <a:r>
              <a:rPr lang="ru-RU" dirty="0"/>
              <a:t> </a:t>
            </a:r>
            <a:r>
              <a:rPr lang="ru-RU" dirty="0" err="1"/>
              <a:t>residual</a:t>
            </a:r>
            <a:r>
              <a:rPr lang="ru-RU" dirty="0"/>
              <a:t> </a:t>
            </a:r>
            <a:r>
              <a:rPr lang="ru-RU" dirty="0" err="1"/>
              <a:t>blocks</a:t>
            </a:r>
            <a:r>
              <a:rPr lang="ru-RU" dirty="0"/>
              <a:t> — оптимизированные остаточные связи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3,5 млн параметров, ~14 МБ — пригодна для мобильных устройств</a:t>
            </a:r>
          </a:p>
          <a:p>
            <a:pPr lvl="3"/>
            <a:r>
              <a:rPr lang="ru-RU" dirty="0"/>
              <a:t>В нашей задаче её веса заморожены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B7485A4-0E2F-43D6-F946-8E959D71C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11263"/>
            <a:ext cx="6096000" cy="471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7779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950A427-2396-4452-A267-FC25A12F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Датасет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E90C7D51-AC66-40CC-A0F6-A9900F310E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1341438"/>
            <a:ext cx="5184774" cy="5040312"/>
          </a:xfrm>
        </p:spPr>
        <p:txBody>
          <a:bodyPr>
            <a:normAutofit lnSpcReduction="10000"/>
          </a:bodyPr>
          <a:lstStyle/>
          <a:p>
            <a:pPr lvl="3"/>
            <a:r>
              <a:rPr lang="ru-RU" b="1" dirty="0">
                <a:solidFill>
                  <a:schemeClr val="accent1"/>
                </a:solidFill>
              </a:rPr>
              <a:t>Источник</a:t>
            </a:r>
          </a:p>
          <a:p>
            <a:pPr lvl="3"/>
            <a:r>
              <a:rPr lang="ru-RU" dirty="0"/>
              <a:t>Открытый датасет </a:t>
            </a:r>
            <a:r>
              <a:rPr lang="ru-RU" dirty="0" err="1"/>
              <a:t>Garbage</a:t>
            </a:r>
            <a:r>
              <a:rPr lang="ru-RU" dirty="0"/>
              <a:t> </a:t>
            </a:r>
            <a:r>
              <a:rPr lang="ru-RU" dirty="0" err="1"/>
              <a:t>Classification</a:t>
            </a:r>
            <a:r>
              <a:rPr lang="ru-RU" dirty="0"/>
              <a:t> с платформы </a:t>
            </a:r>
            <a:r>
              <a:rPr lang="ru-RU" dirty="0" err="1"/>
              <a:t>Kaggle</a:t>
            </a:r>
            <a:endParaRPr lang="ru-RU" dirty="0"/>
          </a:p>
          <a:p>
            <a:pPr lvl="3"/>
            <a:r>
              <a:rPr lang="ru-RU" dirty="0"/>
              <a:t>2527 изображений отдельных предметов мусора на однородном фоне, размеры варьируются</a:t>
            </a:r>
          </a:p>
          <a:p>
            <a:pPr lvl="3"/>
            <a:r>
              <a:rPr lang="ru-RU" b="1" dirty="0">
                <a:solidFill>
                  <a:schemeClr val="accent1"/>
                </a:solidFill>
              </a:rPr>
              <a:t>Классы и количество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Картон (</a:t>
            </a:r>
            <a:r>
              <a:rPr lang="ru-RU" dirty="0" err="1"/>
              <a:t>cardboard</a:t>
            </a:r>
            <a:r>
              <a:rPr lang="ru-RU" dirty="0"/>
              <a:t>) — 403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Стекло (</a:t>
            </a:r>
            <a:r>
              <a:rPr lang="ru-RU" dirty="0" err="1"/>
              <a:t>glass</a:t>
            </a:r>
            <a:r>
              <a:rPr lang="ru-RU" dirty="0"/>
              <a:t>) — 501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Металл (</a:t>
            </a:r>
            <a:r>
              <a:rPr lang="ru-RU" dirty="0" err="1"/>
              <a:t>metal</a:t>
            </a:r>
            <a:r>
              <a:rPr lang="ru-RU" dirty="0"/>
              <a:t>) — 410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Бумага (</a:t>
            </a:r>
            <a:r>
              <a:rPr lang="ru-RU" dirty="0" err="1"/>
              <a:t>paper</a:t>
            </a:r>
            <a:r>
              <a:rPr lang="ru-RU" dirty="0"/>
              <a:t>) — 594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Пластик (</a:t>
            </a:r>
            <a:r>
              <a:rPr lang="ru-RU" dirty="0" err="1"/>
              <a:t>plastic</a:t>
            </a:r>
            <a:r>
              <a:rPr lang="ru-RU" dirty="0"/>
              <a:t>) — 482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Прочий мусор (</a:t>
            </a:r>
            <a:r>
              <a:rPr lang="ru-RU" dirty="0" err="1"/>
              <a:t>trash</a:t>
            </a:r>
            <a:r>
              <a:rPr lang="ru-RU" dirty="0"/>
              <a:t>) — 137</a:t>
            </a:r>
          </a:p>
        </p:txBody>
      </p:sp>
      <p:pic>
        <p:nvPicPr>
          <p:cNvPr id="4098" name="Picture 2" descr="Multi class garbage classification Dataset">
            <a:extLst>
              <a:ext uri="{FF2B5EF4-FFF2-40B4-BE49-F238E27FC236}">
                <a16:creationId xmlns:a16="http://schemas.microsoft.com/office/drawing/2014/main" id="{514ED232-B7B1-5ED6-93FA-4DF3E4FB2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5028" y="2243407"/>
            <a:ext cx="6524625" cy="337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1111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950A427-2396-4452-A267-FC25A12F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 модели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E90C7D51-AC66-40CC-A0F6-A9900F310E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1341438"/>
            <a:ext cx="5184774" cy="5040312"/>
          </a:xfrm>
        </p:spPr>
        <p:txBody>
          <a:bodyPr>
            <a:normAutofit/>
          </a:bodyPr>
          <a:lstStyle/>
          <a:p>
            <a:pPr lvl="3"/>
            <a:r>
              <a:rPr lang="ru-RU" b="1" dirty="0">
                <a:solidFill>
                  <a:schemeClr val="accent1"/>
                </a:solidFill>
              </a:rPr>
              <a:t>Параметры обучения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Оптимизатор: Adam (адаптивная скорость обучения)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Функция потерь: </a:t>
            </a:r>
            <a:r>
              <a:rPr lang="ru-RU" dirty="0" err="1"/>
              <a:t>categorical_crossentropy</a:t>
            </a:r>
            <a:r>
              <a:rPr lang="ru-RU" dirty="0"/>
              <a:t>.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Размер </a:t>
            </a:r>
            <a:r>
              <a:rPr lang="ru-RU" dirty="0" err="1"/>
              <a:t>батча</a:t>
            </a:r>
            <a:r>
              <a:rPr lang="ru-RU" dirty="0"/>
              <a:t>: 32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Эпохи: до 10 с </a:t>
            </a:r>
            <a:r>
              <a:rPr lang="ru-RU" dirty="0" err="1"/>
              <a:t>EarlyStopping</a:t>
            </a:r>
            <a:r>
              <a:rPr lang="ru-RU" dirty="0"/>
              <a:t> (</a:t>
            </a:r>
            <a:r>
              <a:rPr lang="ru-RU" dirty="0" err="1"/>
              <a:t>patience</a:t>
            </a:r>
            <a:r>
              <a:rPr lang="ru-RU" dirty="0"/>
              <a:t> = 3).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Возврат лучших весов: </a:t>
            </a:r>
            <a:r>
              <a:rPr lang="ru-RU" dirty="0" err="1"/>
              <a:t>restore_best_weights</a:t>
            </a:r>
            <a:r>
              <a:rPr lang="ru-RU" dirty="0"/>
              <a:t>=True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B922D7EE-280F-6B6B-D31E-D6D9992B765A}"/>
              </a:ext>
            </a:extLst>
          </p:cNvPr>
          <p:cNvSpPr txBox="1">
            <a:spLocks/>
          </p:cNvSpPr>
          <p:nvPr/>
        </p:nvSpPr>
        <p:spPr>
          <a:xfrm>
            <a:off x="6456364" y="1341437"/>
            <a:ext cx="5184775" cy="5040312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/>
            <a:r>
              <a:rPr lang="ru-RU" b="1" dirty="0">
                <a:solidFill>
                  <a:schemeClr val="accent1"/>
                </a:solidFill>
              </a:rPr>
              <a:t>Борьба с переобучением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Аугментация — модель видит разные варианты одних объектов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 err="1"/>
              <a:t>Dropout</a:t>
            </a:r>
            <a:r>
              <a:rPr lang="ru-RU" dirty="0"/>
              <a:t> 0,3 — случайное отключение 30 % нейронов на каждой итерации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Заморозка базовой модели — мало обучаемых параметров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 err="1"/>
              <a:t>EarlyStopping</a:t>
            </a:r>
            <a:r>
              <a:rPr lang="ru-RU" dirty="0"/>
              <a:t> — остановка при отсутствии улучшений</a:t>
            </a:r>
          </a:p>
          <a:p>
            <a:pPr lvl="3"/>
            <a:r>
              <a:rPr lang="ru-RU" b="1" dirty="0">
                <a:solidFill>
                  <a:schemeClr val="accent1"/>
                </a:solidFill>
              </a:rPr>
              <a:t>Время обучения:</a:t>
            </a:r>
            <a:r>
              <a:rPr lang="ru-RU" dirty="0"/>
              <a:t> ~5–10 минут на GPU T4</a:t>
            </a:r>
          </a:p>
        </p:txBody>
      </p:sp>
    </p:spTree>
    <p:extLst>
      <p:ext uri="{BB962C8B-B14F-4D97-AF65-F5344CB8AC3E}">
        <p14:creationId xmlns:p14="http://schemas.microsoft.com/office/powerpoint/2010/main" val="3570859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950A427-2396-4452-A267-FC25A12F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Объяснимый ИИ: </a:t>
            </a:r>
            <a:r>
              <a:rPr lang="ru-RU" dirty="0" err="1"/>
              <a:t>Grad</a:t>
            </a:r>
            <a:r>
              <a:rPr lang="ru-RU" dirty="0"/>
              <a:t>-CAM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E90C7D51-AC66-40CC-A0F6-A9900F310E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1341438"/>
            <a:ext cx="5184774" cy="5040312"/>
          </a:xfrm>
        </p:spPr>
        <p:txBody>
          <a:bodyPr>
            <a:normAutofit/>
          </a:bodyPr>
          <a:lstStyle/>
          <a:p>
            <a:pPr lvl="3"/>
            <a:r>
              <a:rPr lang="ru-RU" b="1" dirty="0">
                <a:solidFill>
                  <a:schemeClr val="accent1"/>
                </a:solidFill>
              </a:rPr>
              <a:t>Зачем это нужно</a:t>
            </a:r>
          </a:p>
          <a:p>
            <a:pPr lvl="3"/>
            <a:r>
              <a:rPr lang="ru-RU" dirty="0"/>
              <a:t>Глубокие нейросети — «чёрные ящики»: дают правильный ответ, но непонятно, на основании чего. В медицине, праве, автономном транспорте это критично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i="1" dirty="0" err="1">
                <a:solidFill>
                  <a:schemeClr val="accent1"/>
                </a:solidFill>
              </a:rPr>
              <a:t>Explainable</a:t>
            </a:r>
            <a:r>
              <a:rPr lang="ru-RU" i="1" dirty="0">
                <a:solidFill>
                  <a:schemeClr val="accent1"/>
                </a:solidFill>
              </a:rPr>
              <a:t> AI (XAI)</a:t>
            </a:r>
            <a:r>
              <a:rPr lang="ru-RU" dirty="0"/>
              <a:t> — направление исследований, разрабатывающее методы интерпретации решений моделей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i="1" dirty="0" err="1">
                <a:solidFill>
                  <a:schemeClr val="accent1"/>
                </a:solidFill>
              </a:rPr>
              <a:t>Grad</a:t>
            </a:r>
            <a:r>
              <a:rPr lang="ru-RU" i="1" dirty="0">
                <a:solidFill>
                  <a:schemeClr val="accent1"/>
                </a:solidFill>
              </a:rPr>
              <a:t>-CAM </a:t>
            </a:r>
            <a:r>
              <a:rPr lang="ru-RU" dirty="0"/>
              <a:t>— один из самых популярных методов для CNN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13F772A-D12F-AC22-360F-9FE429FAF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6481" y="1889184"/>
            <a:ext cx="6509935" cy="373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1426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950A427-2396-4452-A267-FC25A12F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Веб-интерфейс на </a:t>
            </a:r>
            <a:r>
              <a:rPr lang="ru-RU" dirty="0" err="1"/>
              <a:t>Gradio</a:t>
            </a:r>
            <a:endParaRPr lang="ru-RU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E90C7D51-AC66-40CC-A0F6-A9900F310E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1341438"/>
            <a:ext cx="5184774" cy="5040312"/>
          </a:xfrm>
        </p:spPr>
        <p:txBody>
          <a:bodyPr>
            <a:normAutofit/>
          </a:bodyPr>
          <a:lstStyle/>
          <a:p>
            <a:pPr lvl="3"/>
            <a:r>
              <a:rPr lang="ru-RU" b="1" dirty="0">
                <a:solidFill>
                  <a:schemeClr val="accent1"/>
                </a:solidFill>
              </a:rPr>
              <a:t>Возможности интерфейса</a:t>
            </a:r>
          </a:p>
          <a:p>
            <a:pPr lvl="3"/>
            <a:r>
              <a:rPr lang="ru-RU" dirty="0"/>
              <a:t>Загрузка фото мусора через браузер</a:t>
            </a:r>
          </a:p>
          <a:p>
            <a:pPr lvl="3"/>
            <a:r>
              <a:rPr lang="ru-RU" dirty="0"/>
              <a:t>Вывод предсказания в виде распределения вероятностей по 6 классам</a:t>
            </a:r>
          </a:p>
          <a:p>
            <a:pPr lvl="3"/>
            <a:r>
              <a:rPr lang="ru-RU" dirty="0"/>
              <a:t>Визуализация тепловой карты </a:t>
            </a:r>
            <a:r>
              <a:rPr lang="ru-RU" dirty="0" err="1"/>
              <a:t>Grad</a:t>
            </a:r>
            <a:r>
              <a:rPr lang="ru-RU" dirty="0"/>
              <a:t>-CAM рядом с исходным изображением</a:t>
            </a:r>
          </a:p>
          <a:p>
            <a:pPr lvl="3"/>
            <a:r>
              <a:rPr lang="ru-RU" dirty="0"/>
              <a:t>Готовые примеры из датасета — кликом подставляются в поле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ru-RU" dirty="0" err="1"/>
              <a:t>Gradio</a:t>
            </a:r>
            <a:r>
              <a:rPr lang="ru-RU" dirty="0"/>
              <a:t> автоматически генерирует HTML-страницу и обрабатывает запросы — не нужно настраивать сервер</a:t>
            </a:r>
          </a:p>
          <a:p>
            <a:pPr lvl="3"/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9B311D5-F5F3-1C8E-FC41-462E27C75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785" y="2227731"/>
            <a:ext cx="5838025" cy="263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909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950A427-2396-4452-A267-FC25A12F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18691AE-F25F-B971-706E-F4D6BA98CA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5184775" cy="5040312"/>
          </a:xfrm>
        </p:spPr>
        <p:txBody>
          <a:bodyPr/>
          <a:lstStyle/>
          <a:p>
            <a:pPr lvl="3"/>
            <a:r>
              <a:rPr lang="ru-RU" b="1" dirty="0">
                <a:solidFill>
                  <a:schemeClr val="accent1"/>
                </a:solidFill>
              </a:rPr>
              <a:t>Количественные результаты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Высокая точность на </a:t>
            </a:r>
            <a:r>
              <a:rPr lang="ru-RU" dirty="0" err="1"/>
              <a:t>валидационной</a:t>
            </a:r>
            <a:r>
              <a:rPr lang="ru-RU" dirty="0"/>
              <a:t> выборке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Стабильный рост точности и снижение функции потерь по эпохам — нет признаков переобучения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Кривые train / val сходятся к близким значениям — модель хорошо обобщает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Без transfer learning такой результат на 2500 фото был бы недостижим</a:t>
            </a:r>
          </a:p>
        </p:txBody>
      </p:sp>
      <p:sp>
        <p:nvSpPr>
          <p:cNvPr id="9" name="Текст 13">
            <a:extLst>
              <a:ext uri="{FF2B5EF4-FFF2-40B4-BE49-F238E27FC236}">
                <a16:creationId xmlns:a16="http://schemas.microsoft.com/office/drawing/2014/main" id="{21D40F69-8B03-848B-D634-911545584B9D}"/>
              </a:ext>
            </a:extLst>
          </p:cNvPr>
          <p:cNvSpPr txBox="1">
            <a:spLocks/>
          </p:cNvSpPr>
          <p:nvPr/>
        </p:nvSpPr>
        <p:spPr>
          <a:xfrm>
            <a:off x="6456364" y="1341437"/>
            <a:ext cx="5184775" cy="5040312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/>
            <a:r>
              <a:rPr lang="ru-RU" b="1" dirty="0">
                <a:solidFill>
                  <a:schemeClr val="accent1"/>
                </a:solidFill>
              </a:rPr>
              <a:t>Качественный анализ через </a:t>
            </a:r>
            <a:r>
              <a:rPr lang="ru-RU" b="1" dirty="0" err="1">
                <a:solidFill>
                  <a:schemeClr val="accent1"/>
                </a:solidFill>
              </a:rPr>
              <a:t>Grad</a:t>
            </a:r>
            <a:r>
              <a:rPr lang="ru-RU" b="1" dirty="0">
                <a:solidFill>
                  <a:schemeClr val="accent1"/>
                </a:solidFill>
              </a:rPr>
              <a:t>-CAM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На корректных предсказаниях модель «смотрит» на сам объект — текстуру картона, форму бутылки, блики стекла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На ошибках видно, что модель ориентируется на фон или артефакты — это даёт направление для улучшения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Класс «прочий мусор» предсказывается хуже остальных из-за дисбаланса данных 137 фото против 400–600</a:t>
            </a:r>
          </a:p>
        </p:txBody>
      </p:sp>
    </p:spTree>
    <p:extLst>
      <p:ext uri="{BB962C8B-B14F-4D97-AF65-F5344CB8AC3E}">
        <p14:creationId xmlns:p14="http://schemas.microsoft.com/office/powerpoint/2010/main" val="1011492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950A427-2396-4452-A267-FC25A12F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60B3325-F8F0-D011-C479-DA26C313A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730" y="2019253"/>
            <a:ext cx="5981560" cy="2963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Текст 4">
            <a:extLst>
              <a:ext uri="{FF2B5EF4-FFF2-40B4-BE49-F238E27FC236}">
                <a16:creationId xmlns:a16="http://schemas.microsoft.com/office/drawing/2014/main" id="{3AEC6429-2902-4DAE-6287-D1F41D1BAB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5184775" cy="5040312"/>
          </a:xfrm>
        </p:spPr>
        <p:txBody>
          <a:bodyPr>
            <a:normAutofit/>
          </a:bodyPr>
          <a:lstStyle/>
          <a:p>
            <a:pPr lvl="3"/>
            <a:r>
              <a:rPr lang="ru-RU" b="1" dirty="0">
                <a:solidFill>
                  <a:schemeClr val="accent1"/>
                </a:solidFill>
              </a:rPr>
              <a:t>Количественные результаты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 err="1"/>
              <a:t>Accuracy</a:t>
            </a:r>
            <a:r>
              <a:rPr lang="ru-RU" dirty="0"/>
              <a:t>: </a:t>
            </a:r>
            <a:r>
              <a:rPr lang="ru-RU" b="1" dirty="0"/>
              <a:t>76,5 %</a:t>
            </a:r>
            <a:r>
              <a:rPr lang="ru-RU" dirty="0"/>
              <a:t> на 503 изображениях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F1-score: </a:t>
            </a:r>
            <a:r>
              <a:rPr lang="ru-RU" b="1" dirty="0"/>
              <a:t>0,762</a:t>
            </a:r>
          </a:p>
          <a:p>
            <a:pPr lvl="3">
              <a:buClr>
                <a:schemeClr val="accent5">
                  <a:lumMod val="75000"/>
                </a:schemeClr>
              </a:buClr>
            </a:pPr>
            <a:r>
              <a:rPr lang="ru-RU" b="1" dirty="0">
                <a:solidFill>
                  <a:schemeClr val="accent1"/>
                </a:solidFill>
              </a:rPr>
              <a:t>Лучшие классы: 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бумага F1 = 0,86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картон F1 = 0,85</a:t>
            </a:r>
          </a:p>
          <a:p>
            <a:pPr lvl="3">
              <a:buClr>
                <a:schemeClr val="accent5">
                  <a:lumMod val="75000"/>
                </a:schemeClr>
              </a:buClr>
            </a:pPr>
            <a:r>
              <a:rPr lang="ru-RU" b="1" dirty="0">
                <a:solidFill>
                  <a:schemeClr val="accent1"/>
                </a:solidFill>
              </a:rPr>
              <a:t>Худший: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прочий мусор F1 = 0,42 — из-за малого датасета</a:t>
            </a:r>
            <a:endParaRPr lang="en-US" dirty="0"/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4284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950A427-2396-4452-A267-FC25A12F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Матрица ошибок классификатора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1C154AC-3142-CBD6-7763-7706C27B1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182" y="1149212"/>
            <a:ext cx="6585636" cy="5105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6899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 и направления развития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9452D1-89AA-4C5A-88F0-499C88E144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3"/>
            <a:r>
              <a:rPr lang="ru-RU" b="1" dirty="0">
                <a:solidFill>
                  <a:schemeClr val="accent1"/>
                </a:solidFill>
              </a:rPr>
              <a:t>Что сделано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Обучена нейросетевая модель для классификации мусора по фото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Применён transfer learning на базе MobileNetV2 — высокое качество при малом датасете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Реализован Grad-CAM для визуализации внимания модели — элемент объяснимого ИИ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Создан веб-интерфейс с готовыми примерами и публичной ссылкой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71DDA969-D896-47E2-BC8E-EBF99A51696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456364" y="1341437"/>
            <a:ext cx="5184775" cy="5040312"/>
          </a:xfrm>
        </p:spPr>
        <p:txBody>
          <a:bodyPr wrap="square"/>
          <a:lstStyle/>
          <a:p>
            <a:pPr lvl="3"/>
            <a:r>
              <a:rPr lang="ru-RU" b="1" dirty="0">
                <a:solidFill>
                  <a:schemeClr val="accent1"/>
                </a:solidFill>
              </a:rPr>
              <a:t>Направления развития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Расширение датасета, особенно для редких классов.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Fine-tuning — разморозка части слоёв MobileNetV2.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Переход к детекции (YOLO) — поиск нескольких объектов на одном фото.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Развёртывание на постоянном хостинге, мобильное приложение через TensorFlow Lite.</a:t>
            </a:r>
          </a:p>
          <a:p>
            <a:pPr marL="285750" lvl="3" indent="-28575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ru-RU" dirty="0"/>
              <a:t>Дополнительные методы XAI: LIME, SHAP.</a:t>
            </a:r>
          </a:p>
        </p:txBody>
      </p:sp>
    </p:spTree>
    <p:extLst>
      <p:ext uri="{BB962C8B-B14F-4D97-AF65-F5344CB8AC3E}">
        <p14:creationId xmlns:p14="http://schemas.microsoft.com/office/powerpoint/2010/main" val="3839522410"/>
      </p:ext>
    </p:extLst>
  </p:cSld>
  <p:clrMapOvr>
    <a:masterClrMapping/>
  </p:clrMapOvr>
</p:sld>
</file>

<file path=ppt/theme/theme1.xml><?xml version="1.0" encoding="utf-8"?>
<a:theme xmlns:a="http://schemas.openxmlformats.org/drawingml/2006/main" name="Титульная страница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75426110-BF82-4921-B51E-81780A536C48}"/>
    </a:ext>
  </a:extLst>
</a:theme>
</file>

<file path=ppt/theme/theme2.xml><?xml version="1.0" encoding="utf-8"?>
<a:theme xmlns:a="http://schemas.openxmlformats.org/drawingml/2006/main" name="Текстов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8C20C85A-CFD0-4C40-80A0-6689F915CE1B}"/>
    </a:ext>
  </a:extLst>
</a:theme>
</file>

<file path=ppt/theme/theme3.xml><?xml version="1.0" encoding="utf-8"?>
<a:theme xmlns:a="http://schemas.openxmlformats.org/drawingml/2006/main" name="Дополнительн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AFBC0B84-8B15-49D7-9C5E-B813409B8E8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ГУАП презентация курса - шаблон</Template>
  <TotalTime>41</TotalTime>
  <Words>741</Words>
  <Application>Microsoft Office PowerPoint</Application>
  <PresentationFormat>Широкоэкранный</PresentationFormat>
  <Paragraphs>100</Paragraphs>
  <Slides>13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Wingdings</vt:lpstr>
      <vt:lpstr>Arial</vt:lpstr>
      <vt:lpstr>Calibri</vt:lpstr>
      <vt:lpstr>Титульная страница</vt:lpstr>
      <vt:lpstr>Текстовые блоки</vt:lpstr>
      <vt:lpstr>Дополнительные блоки</vt:lpstr>
      <vt:lpstr>Классификатор мусора  на основе нейронной сети</vt:lpstr>
      <vt:lpstr>Актуальность</vt:lpstr>
      <vt:lpstr>Используемые технологии</vt:lpstr>
      <vt:lpstr>Transfer Learning</vt:lpstr>
      <vt:lpstr>Архитектура модели</vt:lpstr>
      <vt:lpstr>Датасет</vt:lpstr>
      <vt:lpstr>Обучение модели</vt:lpstr>
      <vt:lpstr>Объяснимый ИИ: Grad-CAM</vt:lpstr>
      <vt:lpstr>Веб-интерфейс на Gradio</vt:lpstr>
      <vt:lpstr>Результаты</vt:lpstr>
      <vt:lpstr>Результаты</vt:lpstr>
      <vt:lpstr>Матрица ошибок классификатора</vt:lpstr>
      <vt:lpstr>Заключение и направления развития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Фирменный стиль  презентаций</dc:title>
  <dc:subject/>
  <dc:creator>Алексей Малышев</dc:creator>
  <cp:keywords/>
  <dc:description/>
  <cp:lastModifiedBy>admin</cp:lastModifiedBy>
  <cp:revision>7</cp:revision>
  <dcterms:created xsi:type="dcterms:W3CDTF">2023-06-16T08:15:39Z</dcterms:created>
  <dcterms:modified xsi:type="dcterms:W3CDTF">2026-06-03T20:38:32Z</dcterms:modified>
  <cp:category/>
</cp:coreProperties>
</file>